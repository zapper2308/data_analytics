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BC1D9"/>
    <a:srgbClr val="4C78A8"/>
    <a:srgbClr val="0250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3660" autoAdjust="0"/>
  </p:normalViewPr>
  <p:slideViewPr>
    <p:cSldViewPr snapToGrid="0">
      <p:cViewPr varScale="1">
        <p:scale>
          <a:sx n="52" d="100"/>
          <a:sy n="52" d="100"/>
        </p:scale>
        <p:origin x="184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G:\My%20Drive\__Work__\ACCIO\PowerBi\Projects\Sales-Analytics\sales_analysis-main\Deliverables\Northwind_Traders_EDA_Analytic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G:\My%20Drive\__Work__\ACCIO\PowerBi\Projects\Sales-Analytics\sales_analysis-main\Deliverables\Northwind_Traders_EDA_Analytic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G:\My%20Drive\__Work__\ACCIO\PowerBi\Projects\Sales-Analytics\sales_analysis-main\Deliverables\Northwind_Traders_EDA_Analytic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G:\My%20Drive\__Work__\ACCIO\PowerBi\Projects\Sales-Analytics\sales_analysis-main\Deliverables\Northwind_Traders_EDA_Analytic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G:\My%20Drive\__Work__\ACCIO\PowerBi\Projects\Sales-Analytics\sales_analysis-main\Deliverables\Northwind_Traders_EDA_Analytic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G:\My%20Drive\__Work__\ACCIO\PowerBi\Projects\Sales-Analytics\sales_analysis-main\Deliverables\Northwind_Traders_EDA_Analytics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G:\My%20Drive\__Work__\ACCIO\PowerBi\Projects\Sales-Analytics\sales_analysis-main\Deliverables\Northwind_Traders_EDA_Analytics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G:\My%20Drive\__Work__\ACCIO\PowerBi\Projects\Sales-Analytics\sales_analysis-main\Deliverables\Northwind_Traders_EDA_Analytics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High-Value Repeat Customers Analysis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'Q 1'!$M$24:$M$49</c:f>
              <c:numCache>
                <c:formatCode>General</c:formatCode>
                <c:ptCount val="26"/>
                <c:pt idx="0">
                  <c:v>13</c:v>
                </c:pt>
                <c:pt idx="1">
                  <c:v>18</c:v>
                </c:pt>
                <c:pt idx="2">
                  <c:v>11</c:v>
                </c:pt>
                <c:pt idx="3">
                  <c:v>17</c:v>
                </c:pt>
                <c:pt idx="4">
                  <c:v>14</c:v>
                </c:pt>
                <c:pt idx="5">
                  <c:v>30</c:v>
                </c:pt>
                <c:pt idx="6">
                  <c:v>19</c:v>
                </c:pt>
                <c:pt idx="7">
                  <c:v>15</c:v>
                </c:pt>
                <c:pt idx="8">
                  <c:v>11</c:v>
                </c:pt>
                <c:pt idx="9">
                  <c:v>14</c:v>
                </c:pt>
                <c:pt idx="10">
                  <c:v>18</c:v>
                </c:pt>
                <c:pt idx="11">
                  <c:v>19</c:v>
                </c:pt>
                <c:pt idx="12">
                  <c:v>14</c:v>
                </c:pt>
                <c:pt idx="13">
                  <c:v>15</c:v>
                </c:pt>
                <c:pt idx="14">
                  <c:v>14</c:v>
                </c:pt>
                <c:pt idx="15">
                  <c:v>12</c:v>
                </c:pt>
                <c:pt idx="16">
                  <c:v>13</c:v>
                </c:pt>
                <c:pt idx="17">
                  <c:v>13</c:v>
                </c:pt>
                <c:pt idx="18">
                  <c:v>28</c:v>
                </c:pt>
                <c:pt idx="19">
                  <c:v>18</c:v>
                </c:pt>
                <c:pt idx="20">
                  <c:v>11</c:v>
                </c:pt>
                <c:pt idx="21">
                  <c:v>31</c:v>
                </c:pt>
                <c:pt idx="22">
                  <c:v>12</c:v>
                </c:pt>
                <c:pt idx="23">
                  <c:v>11</c:v>
                </c:pt>
                <c:pt idx="24">
                  <c:v>15</c:v>
                </c:pt>
                <c:pt idx="25">
                  <c:v>14</c:v>
                </c:pt>
              </c:numCache>
            </c:numRef>
          </c:xVal>
          <c:yVal>
            <c:numRef>
              <c:f>'Q 1'!$N$24:$N$49</c:f>
              <c:numCache>
                <c:formatCode>General</c:formatCode>
                <c:ptCount val="26"/>
                <c:pt idx="0">
                  <c:v>13390.65</c:v>
                </c:pt>
                <c:pt idx="1">
                  <c:v>24927.577499999999</c:v>
                </c:pt>
                <c:pt idx="2">
                  <c:v>18534.080000000002</c:v>
                </c:pt>
                <c:pt idx="3">
                  <c:v>21963.252499999999</c:v>
                </c:pt>
                <c:pt idx="4">
                  <c:v>20801.599999999999</c:v>
                </c:pt>
                <c:pt idx="5">
                  <c:v>104874.9785</c:v>
                </c:pt>
                <c:pt idx="6">
                  <c:v>29567.5625</c:v>
                </c:pt>
                <c:pt idx="7">
                  <c:v>26656.559499999999</c:v>
                </c:pt>
                <c:pt idx="8">
                  <c:v>18507.45</c:v>
                </c:pt>
                <c:pt idx="9">
                  <c:v>32841.370000000003</c:v>
                </c:pt>
                <c:pt idx="10">
                  <c:v>22768.763999999999</c:v>
                </c:pt>
                <c:pt idx="11">
                  <c:v>49979.904999999999</c:v>
                </c:pt>
                <c:pt idx="12">
                  <c:v>30908.383999999998</c:v>
                </c:pt>
                <c:pt idx="13">
                  <c:v>19261.41</c:v>
                </c:pt>
                <c:pt idx="14">
                  <c:v>16076.6</c:v>
                </c:pt>
                <c:pt idx="15">
                  <c:v>16476.564999999999</c:v>
                </c:pt>
                <c:pt idx="16">
                  <c:v>28872.19</c:v>
                </c:pt>
                <c:pt idx="17">
                  <c:v>25717.497500000001</c:v>
                </c:pt>
                <c:pt idx="18">
                  <c:v>110277.30499999999</c:v>
                </c:pt>
                <c:pt idx="19">
                  <c:v>51097.800499999998</c:v>
                </c:pt>
                <c:pt idx="20">
                  <c:v>12450.8</c:v>
                </c:pt>
                <c:pt idx="21">
                  <c:v>104361.95</c:v>
                </c:pt>
                <c:pt idx="22">
                  <c:v>24088.78</c:v>
                </c:pt>
                <c:pt idx="23">
                  <c:v>15843.924999999999</c:v>
                </c:pt>
                <c:pt idx="24">
                  <c:v>15648.702499999999</c:v>
                </c:pt>
                <c:pt idx="25">
                  <c:v>27363.605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17F-4DA8-9812-CA1597F46A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0448383"/>
        <c:axId val="480450303"/>
      </c:scatterChart>
      <c:valAx>
        <c:axId val="48044838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0450303"/>
        <c:crosses val="autoZero"/>
        <c:crossBetween val="midCat"/>
      </c:valAx>
      <c:valAx>
        <c:axId val="4804503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044838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[Northwind_Traders_EDA_Analytics.xlsx]Q 2!PivotTable9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Customer Orders by Country</a:t>
            </a:r>
          </a:p>
          <a:p>
            <a:pPr>
              <a:defRPr/>
            </a:pPr>
            <a:endParaRPr lang="en-US"/>
          </a:p>
        </c:rich>
      </c:tx>
      <c:layout>
        <c:manualLayout>
          <c:xMode val="edge"/>
          <c:yMode val="edge"/>
          <c:x val="0.26747835382847501"/>
          <c:y val="2.7835170991490295E-2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5.9224775283561987E-2"/>
          <c:y val="0.12810219823808361"/>
          <c:w val="0.8340580053647525"/>
          <c:h val="0.698280748003429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'Q 2'!$G$16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'Q 2'!$F$17:$F$38</c:f>
              <c:strCache>
                <c:ptCount val="21"/>
                <c:pt idx="0">
                  <c:v>Argentina</c:v>
                </c:pt>
                <c:pt idx="1">
                  <c:v>Austria</c:v>
                </c:pt>
                <c:pt idx="2">
                  <c:v>Belgium</c:v>
                </c:pt>
                <c:pt idx="3">
                  <c:v>Brazil</c:v>
                </c:pt>
                <c:pt idx="4">
                  <c:v>Canada</c:v>
                </c:pt>
                <c:pt idx="5">
                  <c:v>Denmark</c:v>
                </c:pt>
                <c:pt idx="6">
                  <c:v>Finland</c:v>
                </c:pt>
                <c:pt idx="7">
                  <c:v>France</c:v>
                </c:pt>
                <c:pt idx="8">
                  <c:v>Germany</c:v>
                </c:pt>
                <c:pt idx="9">
                  <c:v>Ireland</c:v>
                </c:pt>
                <c:pt idx="10">
                  <c:v>Italy</c:v>
                </c:pt>
                <c:pt idx="11">
                  <c:v>Mexico</c:v>
                </c:pt>
                <c:pt idx="12">
                  <c:v>Norway</c:v>
                </c:pt>
                <c:pt idx="13">
                  <c:v>Poland</c:v>
                </c:pt>
                <c:pt idx="14">
                  <c:v>Portugal</c:v>
                </c:pt>
                <c:pt idx="15">
                  <c:v>Spain</c:v>
                </c:pt>
                <c:pt idx="16">
                  <c:v>Sweden</c:v>
                </c:pt>
                <c:pt idx="17">
                  <c:v>Switzerland</c:v>
                </c:pt>
                <c:pt idx="18">
                  <c:v>UK</c:v>
                </c:pt>
                <c:pt idx="19">
                  <c:v>USA</c:v>
                </c:pt>
                <c:pt idx="20">
                  <c:v>Venezuela</c:v>
                </c:pt>
              </c:strCache>
            </c:strRef>
          </c:cat>
          <c:val>
            <c:numRef>
              <c:f>'Q 2'!$G$17:$G$38</c:f>
              <c:numCache>
                <c:formatCode>General</c:formatCode>
                <c:ptCount val="21"/>
                <c:pt idx="0">
                  <c:v>16</c:v>
                </c:pt>
                <c:pt idx="1">
                  <c:v>40</c:v>
                </c:pt>
                <c:pt idx="2">
                  <c:v>19</c:v>
                </c:pt>
                <c:pt idx="3">
                  <c:v>83</c:v>
                </c:pt>
                <c:pt idx="4">
                  <c:v>30</c:v>
                </c:pt>
                <c:pt idx="5">
                  <c:v>18</c:v>
                </c:pt>
                <c:pt idx="6">
                  <c:v>22</c:v>
                </c:pt>
                <c:pt idx="7">
                  <c:v>77</c:v>
                </c:pt>
                <c:pt idx="8">
                  <c:v>122</c:v>
                </c:pt>
                <c:pt idx="9">
                  <c:v>19</c:v>
                </c:pt>
                <c:pt idx="10">
                  <c:v>28</c:v>
                </c:pt>
                <c:pt idx="11">
                  <c:v>28</c:v>
                </c:pt>
                <c:pt idx="12">
                  <c:v>6</c:v>
                </c:pt>
                <c:pt idx="13">
                  <c:v>7</c:v>
                </c:pt>
                <c:pt idx="14">
                  <c:v>13</c:v>
                </c:pt>
                <c:pt idx="15">
                  <c:v>23</c:v>
                </c:pt>
                <c:pt idx="16">
                  <c:v>37</c:v>
                </c:pt>
                <c:pt idx="17">
                  <c:v>18</c:v>
                </c:pt>
                <c:pt idx="18">
                  <c:v>56</c:v>
                </c:pt>
                <c:pt idx="19">
                  <c:v>122</c:v>
                </c:pt>
                <c:pt idx="20">
                  <c:v>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55-41CB-A6AB-81E8608F36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82352543"/>
        <c:axId val="482353503"/>
      </c:barChart>
      <c:catAx>
        <c:axId val="4823525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2353503"/>
        <c:crosses val="autoZero"/>
        <c:auto val="1"/>
        <c:lblAlgn val="ctr"/>
        <c:lblOffset val="100"/>
        <c:noMultiLvlLbl val="0"/>
      </c:catAx>
      <c:valAx>
        <c:axId val="4823535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23525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Top Revenue - Contributing Product by Category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>
                <a:tint val="77000"/>
              </a:schemeClr>
            </a:solidFill>
            <a:ln>
              <a:noFill/>
            </a:ln>
            <a:effectLst/>
          </c:spPr>
          <c:invertIfNegative val="0"/>
          <c:cat>
            <c:numRef>
              <c:f>'Q 4'!$B$32:$B$39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numCache>
            </c:numRef>
          </c:cat>
          <c:val>
            <c:numRef>
              <c:f>'Q 4'!$C$32:$C$39</c:f>
              <c:numCache>
                <c:formatCode>General</c:formatCode>
                <c:ptCount val="8"/>
                <c:pt idx="0">
                  <c:v>24</c:v>
                </c:pt>
                <c:pt idx="1">
                  <c:v>77</c:v>
                </c:pt>
                <c:pt idx="2">
                  <c:v>62</c:v>
                </c:pt>
                <c:pt idx="3">
                  <c:v>59</c:v>
                </c:pt>
                <c:pt idx="4">
                  <c:v>56</c:v>
                </c:pt>
                <c:pt idx="5">
                  <c:v>17</c:v>
                </c:pt>
                <c:pt idx="6">
                  <c:v>51</c:v>
                </c:pt>
                <c:pt idx="7">
                  <c:v>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FB2-455C-932B-0A8B15713E8A}"/>
            </c:ext>
          </c:extLst>
        </c:ser>
        <c:ser>
          <c:idx val="1"/>
          <c:order val="1"/>
          <c:spPr>
            <a:solidFill>
              <a:schemeClr val="accent1">
                <a:shade val="76000"/>
              </a:schemeClr>
            </a:solidFill>
            <a:ln>
              <a:noFill/>
            </a:ln>
            <a:effectLst/>
          </c:spPr>
          <c:invertIfNegative val="0"/>
          <c:cat>
            <c:numRef>
              <c:f>'Q 4'!$B$32:$B$39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numCache>
            </c:numRef>
          </c:cat>
          <c:val>
            <c:numRef>
              <c:f>'Q 4'!$D$32:$D$39</c:f>
              <c:numCache>
                <c:formatCode>General</c:formatCode>
                <c:ptCount val="8"/>
                <c:pt idx="0">
                  <c:v>4782.6000000000004</c:v>
                </c:pt>
                <c:pt idx="1">
                  <c:v>9685</c:v>
                </c:pt>
                <c:pt idx="2">
                  <c:v>49827.9</c:v>
                </c:pt>
                <c:pt idx="3">
                  <c:v>76296</c:v>
                </c:pt>
                <c:pt idx="4">
                  <c:v>45121.2</c:v>
                </c:pt>
                <c:pt idx="5">
                  <c:v>35482.199999999997</c:v>
                </c:pt>
                <c:pt idx="6">
                  <c:v>44742.6</c:v>
                </c:pt>
                <c:pt idx="7">
                  <c:v>9098.1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FB2-455C-932B-0A8B15713E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62843231"/>
        <c:axId val="268077871"/>
      </c:barChart>
      <c:catAx>
        <c:axId val="2628432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8077871"/>
        <c:crosses val="autoZero"/>
        <c:auto val="1"/>
        <c:lblAlgn val="ctr"/>
        <c:lblOffset val="100"/>
        <c:noMultiLvlLbl val="0"/>
      </c:catAx>
      <c:valAx>
        <c:axId val="2680778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28432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Product Pricing vs Sales Performance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ubbleChart>
        <c:varyColors val="0"/>
        <c:ser>
          <c:idx val="0"/>
          <c:order val="0"/>
          <c:tx>
            <c:strRef>
              <c:f>'Q 9'!$E$16</c:f>
              <c:strCache>
                <c:ptCount val="1"/>
                <c:pt idx="0">
                  <c:v>units_in_stock</c:v>
                </c:pt>
              </c:strCache>
            </c:strRef>
          </c:tx>
          <c:spPr>
            <a:solidFill>
              <a:schemeClr val="accent1">
                <a:alpha val="75000"/>
              </a:schemeClr>
            </a:solidFill>
            <a:ln>
              <a:noFill/>
            </a:ln>
            <a:effectLst/>
          </c:spPr>
          <c:invertIfNegative val="0"/>
          <c:xVal>
            <c:multiLvlStrRef>
              <c:f>'Q 9'!$B$17:$D$93</c:f>
              <c:multiLvlStrCache>
                <c:ptCount val="77"/>
                <c:lvl>
                  <c:pt idx="0">
                    <c:v>10</c:v>
                  </c:pt>
                  <c:pt idx="1">
                    <c:v>7.45</c:v>
                  </c:pt>
                  <c:pt idx="2">
                    <c:v>123.79</c:v>
                  </c:pt>
                  <c:pt idx="3">
                    <c:v>21.5</c:v>
                  </c:pt>
                  <c:pt idx="4">
                    <c:v>22</c:v>
                  </c:pt>
                  <c:pt idx="5">
                    <c:v>12.5</c:v>
                  </c:pt>
                  <c:pt idx="6">
                    <c:v>14</c:v>
                  </c:pt>
                  <c:pt idx="7">
                    <c:v>53</c:v>
                  </c:pt>
                  <c:pt idx="8">
                    <c:v>7</c:v>
                  </c:pt>
                  <c:pt idx="9">
                    <c:v>15</c:v>
                  </c:pt>
                  <c:pt idx="10">
                    <c:v>14</c:v>
                  </c:pt>
                  <c:pt idx="11">
                    <c:v>43.9</c:v>
                  </c:pt>
                  <c:pt idx="12">
                    <c:v>31</c:v>
                  </c:pt>
                  <c:pt idx="13">
                    <c:v>18</c:v>
                  </c:pt>
                  <c:pt idx="14">
                    <c:v>9.5</c:v>
                  </c:pt>
                  <c:pt idx="15">
                    <c:v>25</c:v>
                  </c:pt>
                  <c:pt idx="16">
                    <c:v>18</c:v>
                  </c:pt>
                  <c:pt idx="17">
                    <c:v>36</c:v>
                  </c:pt>
                  <c:pt idx="18">
                    <c:v>19</c:v>
                  </c:pt>
                  <c:pt idx="19">
                    <c:v>12.5</c:v>
                  </c:pt>
                  <c:pt idx="20">
                    <c:v>16.25</c:v>
                  </c:pt>
                  <c:pt idx="21">
                    <c:v>34</c:v>
                  </c:pt>
                  <c:pt idx="22">
                    <c:v>23.25</c:v>
                  </c:pt>
                  <c:pt idx="23">
                    <c:v>17</c:v>
                  </c:pt>
                  <c:pt idx="24">
                    <c:v>21</c:v>
                  </c:pt>
                  <c:pt idx="25">
                    <c:v>55</c:v>
                  </c:pt>
                  <c:pt idx="26">
                    <c:v>6</c:v>
                  </c:pt>
                  <c:pt idx="27">
                    <c:v>21.05</c:v>
                  </c:pt>
                  <c:pt idx="28">
                    <c:v>19</c:v>
                  </c:pt>
                  <c:pt idx="29">
                    <c:v>17.45</c:v>
                  </c:pt>
                  <c:pt idx="30">
                    <c:v>49.3</c:v>
                  </c:pt>
                  <c:pt idx="31">
                    <c:v>7.75</c:v>
                  </c:pt>
                  <c:pt idx="32">
                    <c:v>15</c:v>
                  </c:pt>
                  <c:pt idx="33">
                    <c:v>19.45</c:v>
                  </c:pt>
                  <c:pt idx="34">
                    <c:v>21</c:v>
                  </c:pt>
                  <c:pt idx="35">
                    <c:v>14</c:v>
                  </c:pt>
                  <c:pt idx="36">
                    <c:v>9.65</c:v>
                  </c:pt>
                  <c:pt idx="37">
                    <c:v>12</c:v>
                  </c:pt>
                  <c:pt idx="38">
                    <c:v>18.4</c:v>
                  </c:pt>
                  <c:pt idx="39">
                    <c:v>46</c:v>
                  </c:pt>
                  <c:pt idx="40">
                    <c:v>32</c:v>
                  </c:pt>
                  <c:pt idx="41">
                    <c:v>32.8</c:v>
                  </c:pt>
                  <c:pt idx="42">
                    <c:v>97</c:v>
                  </c:pt>
                  <c:pt idx="43">
                    <c:v>30</c:v>
                  </c:pt>
                  <c:pt idx="44">
                    <c:v>263.5</c:v>
                  </c:pt>
                  <c:pt idx="45">
                    <c:v>15.5</c:v>
                  </c:pt>
                  <c:pt idx="46">
                    <c:v>12.75</c:v>
                  </c:pt>
                  <c:pt idx="47">
                    <c:v>31.23</c:v>
                  </c:pt>
                  <c:pt idx="48">
                    <c:v>38</c:v>
                  </c:pt>
                  <c:pt idx="49">
                    <c:v>34.8</c:v>
                  </c:pt>
                  <c:pt idx="50">
                    <c:v>4.5</c:v>
                  </c:pt>
                  <c:pt idx="51">
                    <c:v>19.5</c:v>
                  </c:pt>
                  <c:pt idx="52">
                    <c:v>28.5</c:v>
                  </c:pt>
                  <c:pt idx="53">
                    <c:v>9.2</c:v>
                  </c:pt>
                  <c:pt idx="54">
                    <c:v>13</c:v>
                  </c:pt>
                  <c:pt idx="55">
                    <c:v>14</c:v>
                  </c:pt>
                  <c:pt idx="56">
                    <c:v>25.89</c:v>
                  </c:pt>
                  <c:pt idx="57">
                    <c:v>10</c:v>
                  </c:pt>
                  <c:pt idx="58">
                    <c:v>20</c:v>
                  </c:pt>
                  <c:pt idx="59">
                    <c:v>9.5</c:v>
                  </c:pt>
                  <c:pt idx="60">
                    <c:v>10</c:v>
                  </c:pt>
                  <c:pt idx="61">
                    <c:v>39</c:v>
                  </c:pt>
                  <c:pt idx="62">
                    <c:v>45.6</c:v>
                  </c:pt>
                  <c:pt idx="63">
                    <c:v>26</c:v>
                  </c:pt>
                  <c:pt idx="64">
                    <c:v>81</c:v>
                  </c:pt>
                  <c:pt idx="65">
                    <c:v>2.5</c:v>
                  </c:pt>
                  <c:pt idx="66">
                    <c:v>18</c:v>
                  </c:pt>
                  <c:pt idx="67">
                    <c:v>18</c:v>
                  </c:pt>
                  <c:pt idx="68">
                    <c:v>21.35</c:v>
                  </c:pt>
                  <c:pt idx="69">
                    <c:v>62.5</c:v>
                  </c:pt>
                  <c:pt idx="70">
                    <c:v>33.25</c:v>
                  </c:pt>
                  <c:pt idx="71">
                    <c:v>24</c:v>
                  </c:pt>
                  <c:pt idx="72">
                    <c:v>43.9</c:v>
                  </c:pt>
                  <c:pt idx="73">
                    <c:v>9</c:v>
                  </c:pt>
                  <c:pt idx="74">
                    <c:v>38</c:v>
                  </c:pt>
                  <c:pt idx="75">
                    <c:v>13.25</c:v>
                  </c:pt>
                  <c:pt idx="76">
                    <c:v>40</c:v>
                  </c:pt>
                </c:lvl>
                <c:lvl>
                  <c:pt idx="0">
                    <c:v>Longlife Tofu</c:v>
                  </c:pt>
                  <c:pt idx="1">
                    <c:v>TourtiÃ¨re</c:v>
                  </c:pt>
                  <c:pt idx="2">
                    <c:v>ThÃ¼ringer Rostbratwurst</c:v>
                  </c:pt>
                  <c:pt idx="3">
                    <c:v>FlÃ¸temysost</c:v>
                  </c:pt>
                  <c:pt idx="4">
                    <c:v>Chef Anton's Cajun Seasoning</c:v>
                  </c:pt>
                  <c:pt idx="5">
                    <c:v>Scottish Longbreads</c:v>
                  </c:pt>
                  <c:pt idx="6">
                    <c:v>Sasquatch Ale</c:v>
                  </c:pt>
                  <c:pt idx="7">
                    <c:v>Manjimup Dried Apples</c:v>
                  </c:pt>
                  <c:pt idx="8">
                    <c:v>Filo Mix</c:v>
                  </c:pt>
                  <c:pt idx="9">
                    <c:v>Outback Lager</c:v>
                  </c:pt>
                  <c:pt idx="10">
                    <c:v>Laughing Lumberjack Lager</c:v>
                  </c:pt>
                  <c:pt idx="11">
                    <c:v>Vegie-spread</c:v>
                  </c:pt>
                  <c:pt idx="12">
                    <c:v>Ikura</c:v>
                  </c:pt>
                  <c:pt idx="13">
                    <c:v>Steeleye Stout</c:v>
                  </c:pt>
                  <c:pt idx="14">
                    <c:v>RÃ¸gede sild</c:v>
                  </c:pt>
                  <c:pt idx="15">
                    <c:v>Grandma's Boysenberry Spread</c:v>
                  </c:pt>
                  <c:pt idx="16">
                    <c:v>Chartreuse verte</c:v>
                  </c:pt>
                  <c:pt idx="17">
                    <c:v>Gudbrandsdalsost</c:v>
                  </c:pt>
                  <c:pt idx="18">
                    <c:v>Inlagd Sill</c:v>
                  </c:pt>
                  <c:pt idx="19">
                    <c:v>Gorgonzola Telino</c:v>
                  </c:pt>
                  <c:pt idx="20">
                    <c:v>Valkoinen suklaa</c:v>
                  </c:pt>
                  <c:pt idx="21">
                    <c:v>Camembert Pierrot</c:v>
                  </c:pt>
                  <c:pt idx="22">
                    <c:v>Tofu</c:v>
                  </c:pt>
                  <c:pt idx="23">
                    <c:v>Louisiana Hot Spiced Okra</c:v>
                  </c:pt>
                  <c:pt idx="24">
                    <c:v>Gustaf's KnÃ¤ckebrÃ¶d</c:v>
                  </c:pt>
                  <c:pt idx="25">
                    <c:v>Raclette Courdavault</c:v>
                  </c:pt>
                  <c:pt idx="26">
                    <c:v>Konbu</c:v>
                  </c:pt>
                  <c:pt idx="27">
                    <c:v>Louisiana Fiery Hot Pepper Sauce</c:v>
                  </c:pt>
                  <c:pt idx="28">
                    <c:v>Chang</c:v>
                  </c:pt>
                  <c:pt idx="29">
                    <c:v>Pavlova</c:v>
                  </c:pt>
                  <c:pt idx="30">
                    <c:v>Tarte au sucre</c:v>
                  </c:pt>
                  <c:pt idx="31">
                    <c:v>RhÃ¶nbrÃ¤u Klosterbier</c:v>
                  </c:pt>
                  <c:pt idx="32">
                    <c:v>RÃ¶d Kaviar</c:v>
                  </c:pt>
                  <c:pt idx="33">
                    <c:v>Gula Malacca</c:v>
                  </c:pt>
                  <c:pt idx="34">
                    <c:v>Queso Cabrales</c:v>
                  </c:pt>
                  <c:pt idx="35">
                    <c:v>Singaporean Hokkien Fried Mee</c:v>
                  </c:pt>
                  <c:pt idx="36">
                    <c:v>Jack's New England Clam Chowder</c:v>
                  </c:pt>
                  <c:pt idx="37">
                    <c:v>Spegesild</c:v>
                  </c:pt>
                  <c:pt idx="38">
                    <c:v>Boston Crab Meat</c:v>
                  </c:pt>
                  <c:pt idx="39">
                    <c:v>Ipoh Coffee</c:v>
                  </c:pt>
                  <c:pt idx="40">
                    <c:v>Mascarpone Fabioli</c:v>
                  </c:pt>
                  <c:pt idx="41">
                    <c:v>Perth Pasties</c:v>
                  </c:pt>
                  <c:pt idx="42">
                    <c:v>Mishi Kobe Niku</c:v>
                  </c:pt>
                  <c:pt idx="43">
                    <c:v>Uncle Bob's Organic Dried Pears</c:v>
                  </c:pt>
                  <c:pt idx="44">
                    <c:v>CÃ´te de Blaye</c:v>
                  </c:pt>
                  <c:pt idx="45">
                    <c:v>Genen Shouyu</c:v>
                  </c:pt>
                  <c:pt idx="46">
                    <c:v>Chocolade</c:v>
                  </c:pt>
                  <c:pt idx="47">
                    <c:v>GumbÃ¤r GummibÃ¤rchen</c:v>
                  </c:pt>
                  <c:pt idx="48">
                    <c:v>Queso Manchego La Pastora</c:v>
                  </c:pt>
                  <c:pt idx="49">
                    <c:v>Mozzarella di Giovanni</c:v>
                  </c:pt>
                  <c:pt idx="50">
                    <c:v>GuaranÃ¡ FantÃ¡stica</c:v>
                  </c:pt>
                  <c:pt idx="51">
                    <c:v>Ravioli Angelo</c:v>
                  </c:pt>
                  <c:pt idx="52">
                    <c:v>Sirop d'Ã©rable</c:v>
                  </c:pt>
                  <c:pt idx="53">
                    <c:v>Teatime Chocolate Biscuits</c:v>
                  </c:pt>
                  <c:pt idx="54">
                    <c:v>Original Frankfurter grÃ¼ne SoÃŸe</c:v>
                  </c:pt>
                  <c:pt idx="55">
                    <c:v>NuNuCa NuÃŸ-Nougat-Creme</c:v>
                  </c:pt>
                  <c:pt idx="56">
                    <c:v>Nord-Ost Matjeshering</c:v>
                  </c:pt>
                  <c:pt idx="57">
                    <c:v>Sir Rodney's Scones</c:v>
                  </c:pt>
                  <c:pt idx="58">
                    <c:v>Maxilaku</c:v>
                  </c:pt>
                  <c:pt idx="59">
                    <c:v>Zaanse koeken</c:v>
                  </c:pt>
                  <c:pt idx="60">
                    <c:v>Aniseed Syrup</c:v>
                  </c:pt>
                  <c:pt idx="61">
                    <c:v>Alice Mutton</c:v>
                  </c:pt>
                  <c:pt idx="62">
                    <c:v>RÃ¶ssle Sauerkraut</c:v>
                  </c:pt>
                  <c:pt idx="63">
                    <c:v>Gravad lax</c:v>
                  </c:pt>
                  <c:pt idx="64">
                    <c:v>Sir Rodney's Marmalade</c:v>
                  </c:pt>
                  <c:pt idx="65">
                    <c:v>Geitost</c:v>
                  </c:pt>
                  <c:pt idx="66">
                    <c:v>Chai</c:v>
                  </c:pt>
                  <c:pt idx="67">
                    <c:v>LakkalikÃ¶Ã¶ri</c:v>
                  </c:pt>
                  <c:pt idx="68">
                    <c:v>Chef Anton's Gumbo Mix</c:v>
                  </c:pt>
                  <c:pt idx="69">
                    <c:v>Carnarvon Tigers</c:v>
                  </c:pt>
                  <c:pt idx="70">
                    <c:v>Wimmers gute SemmelknÃ¶del</c:v>
                  </c:pt>
                  <c:pt idx="71">
                    <c:v>PÃ¢tÃ© chinois</c:v>
                  </c:pt>
                  <c:pt idx="72">
                    <c:v>Schoggi Schokolade</c:v>
                  </c:pt>
                  <c:pt idx="73">
                    <c:v>TunnbrÃ¶d</c:v>
                  </c:pt>
                  <c:pt idx="74">
                    <c:v>Gnocchi di nonna Alice</c:v>
                  </c:pt>
                  <c:pt idx="75">
                    <c:v>Escargots de Bourgogne</c:v>
                  </c:pt>
                  <c:pt idx="76">
                    <c:v>Northwoods Cranberry Sauce</c:v>
                  </c:pt>
                </c:lvl>
                <c:lvl>
                  <c:pt idx="0">
                    <c:v>74</c:v>
                  </c:pt>
                  <c:pt idx="1">
                    <c:v>54</c:v>
                  </c:pt>
                  <c:pt idx="2">
                    <c:v>29</c:v>
                  </c:pt>
                  <c:pt idx="3">
                    <c:v>71</c:v>
                  </c:pt>
                  <c:pt idx="4">
                    <c:v>4</c:v>
                  </c:pt>
                  <c:pt idx="5">
                    <c:v>68</c:v>
                  </c:pt>
                  <c:pt idx="6">
                    <c:v>34</c:v>
                  </c:pt>
                  <c:pt idx="7">
                    <c:v>51</c:v>
                  </c:pt>
                  <c:pt idx="8">
                    <c:v>52</c:v>
                  </c:pt>
                  <c:pt idx="9">
                    <c:v>70</c:v>
                  </c:pt>
                  <c:pt idx="10">
                    <c:v>67</c:v>
                  </c:pt>
                  <c:pt idx="11">
                    <c:v>63</c:v>
                  </c:pt>
                  <c:pt idx="12">
                    <c:v>10</c:v>
                  </c:pt>
                  <c:pt idx="13">
                    <c:v>35</c:v>
                  </c:pt>
                  <c:pt idx="14">
                    <c:v>45</c:v>
                  </c:pt>
                  <c:pt idx="15">
                    <c:v>6</c:v>
                  </c:pt>
                  <c:pt idx="16">
                    <c:v>39</c:v>
                  </c:pt>
                  <c:pt idx="17">
                    <c:v>69</c:v>
                  </c:pt>
                  <c:pt idx="18">
                    <c:v>36</c:v>
                  </c:pt>
                  <c:pt idx="19">
                    <c:v>31</c:v>
                  </c:pt>
                  <c:pt idx="20">
                    <c:v>50</c:v>
                  </c:pt>
                  <c:pt idx="21">
                    <c:v>60</c:v>
                  </c:pt>
                  <c:pt idx="22">
                    <c:v>14</c:v>
                  </c:pt>
                  <c:pt idx="23">
                    <c:v>66</c:v>
                  </c:pt>
                  <c:pt idx="24">
                    <c:v>22</c:v>
                  </c:pt>
                  <c:pt idx="25">
                    <c:v>59</c:v>
                  </c:pt>
                  <c:pt idx="26">
                    <c:v>13</c:v>
                  </c:pt>
                  <c:pt idx="27">
                    <c:v>65</c:v>
                  </c:pt>
                  <c:pt idx="28">
                    <c:v>2</c:v>
                  </c:pt>
                  <c:pt idx="29">
                    <c:v>16</c:v>
                  </c:pt>
                  <c:pt idx="30">
                    <c:v>62</c:v>
                  </c:pt>
                  <c:pt idx="31">
                    <c:v>75</c:v>
                  </c:pt>
                  <c:pt idx="32">
                    <c:v>73</c:v>
                  </c:pt>
                  <c:pt idx="33">
                    <c:v>44</c:v>
                  </c:pt>
                  <c:pt idx="34">
                    <c:v>11</c:v>
                  </c:pt>
                  <c:pt idx="35">
                    <c:v>42</c:v>
                  </c:pt>
                  <c:pt idx="36">
                    <c:v>41</c:v>
                  </c:pt>
                  <c:pt idx="37">
                    <c:v>46</c:v>
                  </c:pt>
                  <c:pt idx="38">
                    <c:v>40</c:v>
                  </c:pt>
                  <c:pt idx="39">
                    <c:v>43</c:v>
                  </c:pt>
                  <c:pt idx="40">
                    <c:v>32</c:v>
                  </c:pt>
                  <c:pt idx="41">
                    <c:v>53</c:v>
                  </c:pt>
                  <c:pt idx="42">
                    <c:v>9</c:v>
                  </c:pt>
                  <c:pt idx="43">
                    <c:v>7</c:v>
                  </c:pt>
                  <c:pt idx="44">
                    <c:v>38</c:v>
                  </c:pt>
                  <c:pt idx="45">
                    <c:v>15</c:v>
                  </c:pt>
                  <c:pt idx="46">
                    <c:v>48</c:v>
                  </c:pt>
                  <c:pt idx="47">
                    <c:v>26</c:v>
                  </c:pt>
                  <c:pt idx="48">
                    <c:v>12</c:v>
                  </c:pt>
                  <c:pt idx="49">
                    <c:v>72</c:v>
                  </c:pt>
                  <c:pt idx="50">
                    <c:v>24</c:v>
                  </c:pt>
                  <c:pt idx="51">
                    <c:v>57</c:v>
                  </c:pt>
                  <c:pt idx="52">
                    <c:v>61</c:v>
                  </c:pt>
                  <c:pt idx="53">
                    <c:v>19</c:v>
                  </c:pt>
                  <c:pt idx="54">
                    <c:v>77</c:v>
                  </c:pt>
                  <c:pt idx="55">
                    <c:v>25</c:v>
                  </c:pt>
                  <c:pt idx="56">
                    <c:v>30</c:v>
                  </c:pt>
                  <c:pt idx="57">
                    <c:v>21</c:v>
                  </c:pt>
                  <c:pt idx="58">
                    <c:v>49</c:v>
                  </c:pt>
                  <c:pt idx="59">
                    <c:v>47</c:v>
                  </c:pt>
                  <c:pt idx="60">
                    <c:v>3</c:v>
                  </c:pt>
                  <c:pt idx="61">
                    <c:v>17</c:v>
                  </c:pt>
                  <c:pt idx="62">
                    <c:v>28</c:v>
                  </c:pt>
                  <c:pt idx="63">
                    <c:v>37</c:v>
                  </c:pt>
                  <c:pt idx="64">
                    <c:v>20</c:v>
                  </c:pt>
                  <c:pt idx="65">
                    <c:v>33</c:v>
                  </c:pt>
                  <c:pt idx="66">
                    <c:v>1</c:v>
                  </c:pt>
                  <c:pt idx="67">
                    <c:v>76</c:v>
                  </c:pt>
                  <c:pt idx="68">
                    <c:v>5</c:v>
                  </c:pt>
                  <c:pt idx="69">
                    <c:v>18</c:v>
                  </c:pt>
                  <c:pt idx="70">
                    <c:v>64</c:v>
                  </c:pt>
                  <c:pt idx="71">
                    <c:v>55</c:v>
                  </c:pt>
                  <c:pt idx="72">
                    <c:v>27</c:v>
                  </c:pt>
                  <c:pt idx="73">
                    <c:v>23</c:v>
                  </c:pt>
                  <c:pt idx="74">
                    <c:v>56</c:v>
                  </c:pt>
                  <c:pt idx="75">
                    <c:v>58</c:v>
                  </c:pt>
                  <c:pt idx="76">
                    <c:v>8</c:v>
                  </c:pt>
                </c:lvl>
              </c:multiLvlStrCache>
            </c:multiLvlStrRef>
          </c:xVal>
          <c:yVal>
            <c:numRef>
              <c:f>'Q 9'!$E$17:$E$93</c:f>
              <c:numCache>
                <c:formatCode>General</c:formatCode>
                <c:ptCount val="77"/>
                <c:pt idx="0">
                  <c:v>4</c:v>
                </c:pt>
                <c:pt idx="1">
                  <c:v>21</c:v>
                </c:pt>
                <c:pt idx="2">
                  <c:v>0</c:v>
                </c:pt>
                <c:pt idx="3">
                  <c:v>26</c:v>
                </c:pt>
                <c:pt idx="4">
                  <c:v>53</c:v>
                </c:pt>
                <c:pt idx="5">
                  <c:v>6</c:v>
                </c:pt>
                <c:pt idx="6">
                  <c:v>111</c:v>
                </c:pt>
                <c:pt idx="7">
                  <c:v>20</c:v>
                </c:pt>
                <c:pt idx="8">
                  <c:v>38</c:v>
                </c:pt>
                <c:pt idx="9">
                  <c:v>15</c:v>
                </c:pt>
                <c:pt idx="10">
                  <c:v>52</c:v>
                </c:pt>
                <c:pt idx="11">
                  <c:v>24</c:v>
                </c:pt>
                <c:pt idx="12">
                  <c:v>31</c:v>
                </c:pt>
                <c:pt idx="13">
                  <c:v>20</c:v>
                </c:pt>
                <c:pt idx="14">
                  <c:v>5</c:v>
                </c:pt>
                <c:pt idx="15">
                  <c:v>120</c:v>
                </c:pt>
                <c:pt idx="16">
                  <c:v>69</c:v>
                </c:pt>
                <c:pt idx="17">
                  <c:v>26</c:v>
                </c:pt>
                <c:pt idx="18">
                  <c:v>112</c:v>
                </c:pt>
                <c:pt idx="19">
                  <c:v>0</c:v>
                </c:pt>
                <c:pt idx="20">
                  <c:v>65</c:v>
                </c:pt>
                <c:pt idx="21">
                  <c:v>19</c:v>
                </c:pt>
                <c:pt idx="22">
                  <c:v>35</c:v>
                </c:pt>
                <c:pt idx="23">
                  <c:v>4</c:v>
                </c:pt>
                <c:pt idx="24">
                  <c:v>104</c:v>
                </c:pt>
                <c:pt idx="25">
                  <c:v>79</c:v>
                </c:pt>
                <c:pt idx="26">
                  <c:v>24</c:v>
                </c:pt>
                <c:pt idx="27">
                  <c:v>76</c:v>
                </c:pt>
                <c:pt idx="28">
                  <c:v>17</c:v>
                </c:pt>
                <c:pt idx="29">
                  <c:v>29</c:v>
                </c:pt>
                <c:pt idx="30">
                  <c:v>17</c:v>
                </c:pt>
                <c:pt idx="31">
                  <c:v>125</c:v>
                </c:pt>
                <c:pt idx="32">
                  <c:v>101</c:v>
                </c:pt>
                <c:pt idx="33">
                  <c:v>27</c:v>
                </c:pt>
                <c:pt idx="34">
                  <c:v>22</c:v>
                </c:pt>
                <c:pt idx="35">
                  <c:v>26</c:v>
                </c:pt>
                <c:pt idx="36">
                  <c:v>85</c:v>
                </c:pt>
                <c:pt idx="37">
                  <c:v>95</c:v>
                </c:pt>
                <c:pt idx="38">
                  <c:v>123</c:v>
                </c:pt>
                <c:pt idx="39">
                  <c:v>17</c:v>
                </c:pt>
                <c:pt idx="40">
                  <c:v>9</c:v>
                </c:pt>
                <c:pt idx="41">
                  <c:v>0</c:v>
                </c:pt>
                <c:pt idx="42">
                  <c:v>29</c:v>
                </c:pt>
                <c:pt idx="43">
                  <c:v>15</c:v>
                </c:pt>
                <c:pt idx="44">
                  <c:v>17</c:v>
                </c:pt>
                <c:pt idx="45">
                  <c:v>39</c:v>
                </c:pt>
                <c:pt idx="46">
                  <c:v>15</c:v>
                </c:pt>
                <c:pt idx="47">
                  <c:v>15</c:v>
                </c:pt>
                <c:pt idx="48">
                  <c:v>86</c:v>
                </c:pt>
                <c:pt idx="49">
                  <c:v>14</c:v>
                </c:pt>
                <c:pt idx="50">
                  <c:v>20</c:v>
                </c:pt>
                <c:pt idx="51">
                  <c:v>36</c:v>
                </c:pt>
                <c:pt idx="52">
                  <c:v>113</c:v>
                </c:pt>
                <c:pt idx="53">
                  <c:v>25</c:v>
                </c:pt>
                <c:pt idx="54">
                  <c:v>32</c:v>
                </c:pt>
                <c:pt idx="55">
                  <c:v>76</c:v>
                </c:pt>
                <c:pt idx="56">
                  <c:v>10</c:v>
                </c:pt>
                <c:pt idx="57">
                  <c:v>3</c:v>
                </c:pt>
                <c:pt idx="58">
                  <c:v>10</c:v>
                </c:pt>
                <c:pt idx="59">
                  <c:v>36</c:v>
                </c:pt>
                <c:pt idx="60">
                  <c:v>13</c:v>
                </c:pt>
                <c:pt idx="61">
                  <c:v>0</c:v>
                </c:pt>
                <c:pt idx="62">
                  <c:v>26</c:v>
                </c:pt>
                <c:pt idx="63">
                  <c:v>11</c:v>
                </c:pt>
                <c:pt idx="64">
                  <c:v>40</c:v>
                </c:pt>
                <c:pt idx="65">
                  <c:v>112</c:v>
                </c:pt>
                <c:pt idx="66">
                  <c:v>39</c:v>
                </c:pt>
                <c:pt idx="67">
                  <c:v>57</c:v>
                </c:pt>
                <c:pt idx="68">
                  <c:v>0</c:v>
                </c:pt>
                <c:pt idx="69">
                  <c:v>42</c:v>
                </c:pt>
                <c:pt idx="70">
                  <c:v>22</c:v>
                </c:pt>
                <c:pt idx="71">
                  <c:v>115</c:v>
                </c:pt>
                <c:pt idx="72">
                  <c:v>49</c:v>
                </c:pt>
                <c:pt idx="73">
                  <c:v>61</c:v>
                </c:pt>
                <c:pt idx="74">
                  <c:v>21</c:v>
                </c:pt>
                <c:pt idx="75">
                  <c:v>62</c:v>
                </c:pt>
                <c:pt idx="76">
                  <c:v>6</c:v>
                </c:pt>
              </c:numCache>
            </c:numRef>
          </c:yVal>
          <c:bubbleSize>
            <c:numRef>
              <c:f>'Q 9'!$F$17:$F$93</c:f>
              <c:numCache>
                <c:formatCode>General</c:formatCode>
                <c:ptCount val="77"/>
                <c:pt idx="0">
                  <c:v>297</c:v>
                </c:pt>
                <c:pt idx="1">
                  <c:v>755</c:v>
                </c:pt>
                <c:pt idx="2">
                  <c:v>746</c:v>
                </c:pt>
                <c:pt idx="3">
                  <c:v>1057</c:v>
                </c:pt>
                <c:pt idx="4">
                  <c:v>453</c:v>
                </c:pt>
                <c:pt idx="5">
                  <c:v>799</c:v>
                </c:pt>
                <c:pt idx="6">
                  <c:v>506</c:v>
                </c:pt>
                <c:pt idx="7">
                  <c:v>886</c:v>
                </c:pt>
                <c:pt idx="8">
                  <c:v>500</c:v>
                </c:pt>
                <c:pt idx="9">
                  <c:v>817</c:v>
                </c:pt>
                <c:pt idx="10">
                  <c:v>184</c:v>
                </c:pt>
                <c:pt idx="11">
                  <c:v>445</c:v>
                </c:pt>
                <c:pt idx="12">
                  <c:v>742</c:v>
                </c:pt>
                <c:pt idx="13">
                  <c:v>883</c:v>
                </c:pt>
                <c:pt idx="14">
                  <c:v>508</c:v>
                </c:pt>
                <c:pt idx="15">
                  <c:v>301</c:v>
                </c:pt>
                <c:pt idx="16">
                  <c:v>793</c:v>
                </c:pt>
                <c:pt idx="17">
                  <c:v>714</c:v>
                </c:pt>
                <c:pt idx="18">
                  <c:v>805</c:v>
                </c:pt>
                <c:pt idx="19">
                  <c:v>1397</c:v>
                </c:pt>
                <c:pt idx="20">
                  <c:v>235</c:v>
                </c:pt>
                <c:pt idx="21">
                  <c:v>1577</c:v>
                </c:pt>
                <c:pt idx="22">
                  <c:v>404</c:v>
                </c:pt>
                <c:pt idx="23">
                  <c:v>239</c:v>
                </c:pt>
                <c:pt idx="24">
                  <c:v>348</c:v>
                </c:pt>
                <c:pt idx="25">
                  <c:v>1496</c:v>
                </c:pt>
                <c:pt idx="26">
                  <c:v>891</c:v>
                </c:pt>
                <c:pt idx="27">
                  <c:v>745</c:v>
                </c:pt>
                <c:pt idx="28">
                  <c:v>1057</c:v>
                </c:pt>
                <c:pt idx="29">
                  <c:v>1158</c:v>
                </c:pt>
                <c:pt idx="30">
                  <c:v>1083</c:v>
                </c:pt>
                <c:pt idx="31">
                  <c:v>1155</c:v>
                </c:pt>
                <c:pt idx="32">
                  <c:v>293</c:v>
                </c:pt>
                <c:pt idx="33">
                  <c:v>601</c:v>
                </c:pt>
                <c:pt idx="34">
                  <c:v>706</c:v>
                </c:pt>
                <c:pt idx="35">
                  <c:v>697</c:v>
                </c:pt>
                <c:pt idx="36">
                  <c:v>981</c:v>
                </c:pt>
                <c:pt idx="37">
                  <c:v>548</c:v>
                </c:pt>
                <c:pt idx="38">
                  <c:v>1103</c:v>
                </c:pt>
                <c:pt idx="39">
                  <c:v>580</c:v>
                </c:pt>
                <c:pt idx="40">
                  <c:v>297</c:v>
                </c:pt>
                <c:pt idx="41">
                  <c:v>722</c:v>
                </c:pt>
                <c:pt idx="42">
                  <c:v>95</c:v>
                </c:pt>
                <c:pt idx="43">
                  <c:v>763</c:v>
                </c:pt>
                <c:pt idx="44">
                  <c:v>623</c:v>
                </c:pt>
                <c:pt idx="45">
                  <c:v>122</c:v>
                </c:pt>
                <c:pt idx="46">
                  <c:v>138</c:v>
                </c:pt>
                <c:pt idx="47">
                  <c:v>753</c:v>
                </c:pt>
                <c:pt idx="48">
                  <c:v>344</c:v>
                </c:pt>
                <c:pt idx="49">
                  <c:v>806</c:v>
                </c:pt>
                <c:pt idx="50">
                  <c:v>1125</c:v>
                </c:pt>
                <c:pt idx="51">
                  <c:v>434</c:v>
                </c:pt>
                <c:pt idx="52">
                  <c:v>603</c:v>
                </c:pt>
                <c:pt idx="53">
                  <c:v>723</c:v>
                </c:pt>
                <c:pt idx="54">
                  <c:v>791</c:v>
                </c:pt>
                <c:pt idx="55">
                  <c:v>318</c:v>
                </c:pt>
                <c:pt idx="56">
                  <c:v>612</c:v>
                </c:pt>
                <c:pt idx="57">
                  <c:v>1016</c:v>
                </c:pt>
                <c:pt idx="58">
                  <c:v>520</c:v>
                </c:pt>
                <c:pt idx="59">
                  <c:v>485</c:v>
                </c:pt>
                <c:pt idx="60">
                  <c:v>328</c:v>
                </c:pt>
                <c:pt idx="61">
                  <c:v>978</c:v>
                </c:pt>
                <c:pt idx="62">
                  <c:v>640</c:v>
                </c:pt>
                <c:pt idx="63">
                  <c:v>125</c:v>
                </c:pt>
                <c:pt idx="64">
                  <c:v>313</c:v>
                </c:pt>
                <c:pt idx="65">
                  <c:v>755</c:v>
                </c:pt>
                <c:pt idx="66">
                  <c:v>828</c:v>
                </c:pt>
                <c:pt idx="67">
                  <c:v>981</c:v>
                </c:pt>
                <c:pt idx="68">
                  <c:v>298</c:v>
                </c:pt>
                <c:pt idx="69">
                  <c:v>539</c:v>
                </c:pt>
                <c:pt idx="70">
                  <c:v>740</c:v>
                </c:pt>
                <c:pt idx="71">
                  <c:v>903</c:v>
                </c:pt>
                <c:pt idx="72">
                  <c:v>365</c:v>
                </c:pt>
                <c:pt idx="73">
                  <c:v>580</c:v>
                </c:pt>
                <c:pt idx="74">
                  <c:v>1263</c:v>
                </c:pt>
                <c:pt idx="75">
                  <c:v>534</c:v>
                </c:pt>
                <c:pt idx="76">
                  <c:v>372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0-F9DE-49F5-8DF2-A9AA999E04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659941535"/>
        <c:axId val="659942015"/>
      </c:bubbleChart>
      <c:valAx>
        <c:axId val="65994153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9942015"/>
        <c:crosses val="autoZero"/>
        <c:crossBetween val="midCat"/>
      </c:valAx>
      <c:valAx>
        <c:axId val="6599420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9941535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[Northwind_Traders_EDA_Analytics.xlsx]Q 10!PivotTable34</c:name>
    <c:fmtId val="2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Monthly Demand Trends – Top 3 Products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'Q 10'!$H$17:$H$18</c:f>
              <c:strCache>
                <c:ptCount val="1"/>
                <c:pt idx="0">
                  <c:v>Camembert Pierrot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'Q 10'!$G$19:$G$31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'Q 10'!$H$19:$H$31</c:f>
              <c:numCache>
                <c:formatCode>General</c:formatCode>
                <c:ptCount val="12"/>
                <c:pt idx="0">
                  <c:v>126</c:v>
                </c:pt>
                <c:pt idx="1">
                  <c:v>216</c:v>
                </c:pt>
                <c:pt idx="2">
                  <c:v>100</c:v>
                </c:pt>
                <c:pt idx="3">
                  <c:v>170</c:v>
                </c:pt>
                <c:pt idx="4">
                  <c:v>280</c:v>
                </c:pt>
                <c:pt idx="5">
                  <c:v>37</c:v>
                </c:pt>
                <c:pt idx="6">
                  <c:v>24</c:v>
                </c:pt>
                <c:pt idx="7">
                  <c:v>165</c:v>
                </c:pt>
                <c:pt idx="8">
                  <c:v>106</c:v>
                </c:pt>
                <c:pt idx="9">
                  <c:v>135</c:v>
                </c:pt>
                <c:pt idx="10">
                  <c:v>10</c:v>
                </c:pt>
                <c:pt idx="11">
                  <c:v>208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DDC-49DD-84BE-0B4F2CD63056}"/>
            </c:ext>
          </c:extLst>
        </c:ser>
        <c:ser>
          <c:idx val="1"/>
          <c:order val="1"/>
          <c:tx>
            <c:strRef>
              <c:f>'Q 10'!$I$17:$I$18</c:f>
              <c:strCache>
                <c:ptCount val="1"/>
                <c:pt idx="0">
                  <c:v>Gorgonzola Telino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'Q 10'!$G$19:$G$31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'Q 10'!$I$19:$I$31</c:f>
              <c:numCache>
                <c:formatCode>General</c:formatCode>
                <c:ptCount val="12"/>
                <c:pt idx="0">
                  <c:v>313</c:v>
                </c:pt>
                <c:pt idx="1">
                  <c:v>88</c:v>
                </c:pt>
                <c:pt idx="2">
                  <c:v>38</c:v>
                </c:pt>
                <c:pt idx="3">
                  <c:v>188</c:v>
                </c:pt>
                <c:pt idx="4">
                  <c:v>35</c:v>
                </c:pt>
                <c:pt idx="5">
                  <c:v>155</c:v>
                </c:pt>
                <c:pt idx="6">
                  <c:v>171</c:v>
                </c:pt>
                <c:pt idx="7">
                  <c:v>20</c:v>
                </c:pt>
                <c:pt idx="8">
                  <c:v>55</c:v>
                </c:pt>
                <c:pt idx="9">
                  <c:v>48</c:v>
                </c:pt>
                <c:pt idx="10">
                  <c:v>155</c:v>
                </c:pt>
                <c:pt idx="11">
                  <c:v>131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DDC-49DD-84BE-0B4F2CD63056}"/>
            </c:ext>
          </c:extLst>
        </c:ser>
        <c:ser>
          <c:idx val="2"/>
          <c:order val="2"/>
          <c:tx>
            <c:strRef>
              <c:f>'Q 10'!$J$17:$J$18</c:f>
              <c:strCache>
                <c:ptCount val="1"/>
                <c:pt idx="0">
                  <c:v>Raclette Courdavault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'Q 10'!$G$19:$G$31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'Q 10'!$J$19:$J$31</c:f>
              <c:numCache>
                <c:formatCode>General</c:formatCode>
                <c:ptCount val="12"/>
                <c:pt idx="0">
                  <c:v>77</c:v>
                </c:pt>
                <c:pt idx="1">
                  <c:v>192</c:v>
                </c:pt>
                <c:pt idx="2">
                  <c:v>146</c:v>
                </c:pt>
                <c:pt idx="3">
                  <c:v>106</c:v>
                </c:pt>
                <c:pt idx="4">
                  <c:v>386</c:v>
                </c:pt>
                <c:pt idx="5">
                  <c:v>17</c:v>
                </c:pt>
                <c:pt idx="6">
                  <c:v>52</c:v>
                </c:pt>
                <c:pt idx="7">
                  <c:v>185</c:v>
                </c:pt>
                <c:pt idx="8">
                  <c:v>21</c:v>
                </c:pt>
                <c:pt idx="9">
                  <c:v>53</c:v>
                </c:pt>
                <c:pt idx="10">
                  <c:v>168</c:v>
                </c:pt>
                <c:pt idx="11">
                  <c:v>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DDC-49DD-84BE-0B4F2CD630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76375135"/>
        <c:axId val="2029819279"/>
      </c:lineChart>
      <c:catAx>
        <c:axId val="3763751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29819279"/>
        <c:crosses val="autoZero"/>
        <c:auto val="1"/>
        <c:lblAlgn val="ctr"/>
        <c:lblOffset val="100"/>
        <c:noMultiLvlLbl val="0"/>
      </c:catAx>
      <c:valAx>
        <c:axId val="2029819279"/>
        <c:scaling>
          <c:orientation val="minMax"/>
          <c:max val="4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637513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Supplier Distribution Across Product Categories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'Q 13'!$B$13</c:f>
              <c:strCache>
                <c:ptCount val="1"/>
                <c:pt idx="0">
                  <c:v>category_id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'Q 13'!$B$14:$B$21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0F2-4A94-B8D7-533451676EF2}"/>
            </c:ext>
          </c:extLst>
        </c:ser>
        <c:ser>
          <c:idx val="1"/>
          <c:order val="1"/>
          <c:tx>
            <c:strRef>
              <c:f>'Q 13'!$C$13</c:f>
              <c:strCache>
                <c:ptCount val="1"/>
                <c:pt idx="0">
                  <c:v>supllier_count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val>
            <c:numRef>
              <c:f>'Q 13'!$C$14:$C$21</c:f>
              <c:numCache>
                <c:formatCode>General</c:formatCode>
                <c:ptCount val="8"/>
                <c:pt idx="0">
                  <c:v>8</c:v>
                </c:pt>
                <c:pt idx="1">
                  <c:v>8</c:v>
                </c:pt>
                <c:pt idx="2">
                  <c:v>6</c:v>
                </c:pt>
                <c:pt idx="3">
                  <c:v>4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0F2-4A94-B8D7-533451676E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08413439"/>
        <c:axId val="908411999"/>
      </c:barChart>
      <c:catAx>
        <c:axId val="908413439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8411999"/>
        <c:crosses val="autoZero"/>
        <c:auto val="1"/>
        <c:lblAlgn val="ctr"/>
        <c:lblOffset val="100"/>
        <c:noMultiLvlLbl val="0"/>
      </c:catAx>
      <c:valAx>
        <c:axId val="9084119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84134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[Northwind_Traders_EDA_Analytics.xlsx]Q 14!PivotTable54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Average Supplier Median Price by Country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'Q 14'!$G$21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'Q 14'!$F$22:$F$39</c:f>
              <c:strCache>
                <c:ptCount val="17"/>
                <c:pt idx="0">
                  <c:v>Australia</c:v>
                </c:pt>
                <c:pt idx="1">
                  <c:v>Brazil</c:v>
                </c:pt>
                <c:pt idx="2">
                  <c:v>Canada</c:v>
                </c:pt>
                <c:pt idx="3">
                  <c:v>Denmark</c:v>
                </c:pt>
                <c:pt idx="4">
                  <c:v>Finland</c:v>
                </c:pt>
                <c:pt idx="5">
                  <c:v>France</c:v>
                </c:pt>
                <c:pt idx="6">
                  <c:v>Germany</c:v>
                </c:pt>
                <c:pt idx="7">
                  <c:v>Italy</c:v>
                </c:pt>
                <c:pt idx="8">
                  <c:v>Japan</c:v>
                </c:pt>
                <c:pt idx="9">
                  <c:v>Netherlands</c:v>
                </c:pt>
                <c:pt idx="10">
                  <c:v>Norway</c:v>
                </c:pt>
                <c:pt idx="11">
                  <c:v>Singapore</c:v>
                </c:pt>
                <c:pt idx="12">
                  <c:v>Spain</c:v>
                </c:pt>
                <c:pt idx="13">
                  <c:v>Sweden</c:v>
                </c:pt>
                <c:pt idx="14">
                  <c:v>Sweden </c:v>
                </c:pt>
                <c:pt idx="15">
                  <c:v>UK</c:v>
                </c:pt>
                <c:pt idx="16">
                  <c:v>USA</c:v>
                </c:pt>
              </c:strCache>
            </c:strRef>
          </c:cat>
          <c:val>
            <c:numRef>
              <c:f>'Q 14'!$G$22:$G$39</c:f>
              <c:numCache>
                <c:formatCode>0.00</c:formatCode>
                <c:ptCount val="17"/>
                <c:pt idx="0">
                  <c:v>35.9</c:v>
                </c:pt>
                <c:pt idx="1">
                  <c:v>4.5</c:v>
                </c:pt>
                <c:pt idx="2">
                  <c:v>27.3125</c:v>
                </c:pt>
                <c:pt idx="3">
                  <c:v>10.75</c:v>
                </c:pt>
                <c:pt idx="4">
                  <c:v>18</c:v>
                </c:pt>
                <c:pt idx="5">
                  <c:v>66.166666666666671</c:v>
                </c:pt>
                <c:pt idx="6">
                  <c:v>30.123333333333335</c:v>
                </c:pt>
                <c:pt idx="7">
                  <c:v>30.375</c:v>
                </c:pt>
                <c:pt idx="8">
                  <c:v>23.25</c:v>
                </c:pt>
                <c:pt idx="9">
                  <c:v>11.125</c:v>
                </c:pt>
                <c:pt idx="10">
                  <c:v>21.5</c:v>
                </c:pt>
                <c:pt idx="11">
                  <c:v>19.45</c:v>
                </c:pt>
                <c:pt idx="12">
                  <c:v>29.5</c:v>
                </c:pt>
                <c:pt idx="13">
                  <c:v>19</c:v>
                </c:pt>
                <c:pt idx="14">
                  <c:v>15</c:v>
                </c:pt>
                <c:pt idx="15">
                  <c:v>14.625</c:v>
                </c:pt>
                <c:pt idx="16">
                  <c:v>19.806249999999977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14-4A17-B002-A3516F661D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05711055"/>
        <c:axId val="50680511"/>
      </c:barChart>
      <c:catAx>
        <c:axId val="9057110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680511"/>
        <c:crosses val="autoZero"/>
        <c:auto val="1"/>
        <c:lblAlgn val="ctr"/>
        <c:lblOffset val="100"/>
        <c:noMultiLvlLbl val="0"/>
      </c:catAx>
      <c:valAx>
        <c:axId val="506805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57110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[Northwind_Traders_EDA_Analytics.xlsx]Q 12!PivotTable53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Average Supplier Product Price by Country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'Q 12'!$H$31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'Q 12'!$G$32:$G$49</c:f>
              <c:strCache>
                <c:ptCount val="17"/>
                <c:pt idx="0">
                  <c:v>Australia</c:v>
                </c:pt>
                <c:pt idx="1">
                  <c:v>Brazil</c:v>
                </c:pt>
                <c:pt idx="2">
                  <c:v>Canada</c:v>
                </c:pt>
                <c:pt idx="3">
                  <c:v>Denmark</c:v>
                </c:pt>
                <c:pt idx="4">
                  <c:v>Finland</c:v>
                </c:pt>
                <c:pt idx="5">
                  <c:v>France</c:v>
                </c:pt>
                <c:pt idx="6">
                  <c:v>Germany</c:v>
                </c:pt>
                <c:pt idx="7">
                  <c:v>Italy</c:v>
                </c:pt>
                <c:pt idx="8">
                  <c:v>Japan</c:v>
                </c:pt>
                <c:pt idx="9">
                  <c:v>Netherlands</c:v>
                </c:pt>
                <c:pt idx="10">
                  <c:v>Norway</c:v>
                </c:pt>
                <c:pt idx="11">
                  <c:v>Singapore</c:v>
                </c:pt>
                <c:pt idx="12">
                  <c:v>Spain</c:v>
                </c:pt>
                <c:pt idx="13">
                  <c:v>Sweden</c:v>
                </c:pt>
                <c:pt idx="14">
                  <c:v>Sweden </c:v>
                </c:pt>
                <c:pt idx="15">
                  <c:v>UK</c:v>
                </c:pt>
                <c:pt idx="16">
                  <c:v>USA</c:v>
                </c:pt>
              </c:strCache>
            </c:strRef>
          </c:cat>
          <c:val>
            <c:numRef>
              <c:f>'Q 12'!$H$32:$H$49</c:f>
              <c:numCache>
                <c:formatCode>0.00</c:formatCode>
                <c:ptCount val="17"/>
                <c:pt idx="0">
                  <c:v>33.831249999999997</c:v>
                </c:pt>
                <c:pt idx="1">
                  <c:v>4.5</c:v>
                </c:pt>
                <c:pt idx="2">
                  <c:v>27.3125</c:v>
                </c:pt>
                <c:pt idx="3">
                  <c:v>10.75</c:v>
                </c:pt>
                <c:pt idx="4">
                  <c:v>18.083333333333332</c:v>
                </c:pt>
                <c:pt idx="5">
                  <c:v>76.75</c:v>
                </c:pt>
                <c:pt idx="6">
                  <c:v>37.601111111111109</c:v>
                </c:pt>
                <c:pt idx="7">
                  <c:v>27.360000000000003</c:v>
                </c:pt>
                <c:pt idx="8">
                  <c:v>30.458333333333332</c:v>
                </c:pt>
                <c:pt idx="9">
                  <c:v>11.125</c:v>
                </c:pt>
                <c:pt idx="10">
                  <c:v>20</c:v>
                </c:pt>
                <c:pt idx="11">
                  <c:v>26.483333333333334</c:v>
                </c:pt>
                <c:pt idx="12">
                  <c:v>29.5</c:v>
                </c:pt>
                <c:pt idx="13">
                  <c:v>20</c:v>
                </c:pt>
                <c:pt idx="14">
                  <c:v>15</c:v>
                </c:pt>
                <c:pt idx="15">
                  <c:v>22.814285714285713</c:v>
                </c:pt>
                <c:pt idx="16">
                  <c:v>20.870833333333334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39A-4A1C-9592-1F7E9AA002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14810415"/>
        <c:axId val="914811855"/>
      </c:barChart>
      <c:catAx>
        <c:axId val="9148104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4811855"/>
        <c:crosses val="autoZero"/>
        <c:auto val="1"/>
        <c:lblAlgn val="ctr"/>
        <c:lblOffset val="100"/>
        <c:noMultiLvlLbl val="0"/>
      </c:catAx>
      <c:valAx>
        <c:axId val="9148118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48104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6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2FAC97-37BE-44B7-B1E6-1A980D5F2E7B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A55FE4-8B7F-4397-922D-408987C3A3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5108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“Hello everyone, this presentation covers the sales and operational analysis of Northwind Traders.</a:t>
            </a:r>
          </a:p>
          <a:p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objective of this analysis is to evaluate business performance across five key dimensions structured using a MECE framework — ensuring that each area of analysis is mutually exclusive and collectively exhaustive.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The five categories include:</a:t>
            </a: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Sales Performance</a:t>
            </a: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Customer &amp; Revenue Performance</a:t>
            </a: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Workforce &amp; Organizational Insights</a:t>
            </a: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Pricing &amp; Demand Patterns</a:t>
            </a: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Supplier &amp; Regional Insights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Let’s begin with Sales Performance.”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A55FE4-8B7F-4397-922D-408987C3A38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7134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slide focuses on overall revenue performance.</a:t>
            </a:r>
          </a:p>
          <a:p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First, looking at Revenue Trends, we </a:t>
            </a:r>
            <a:r>
              <a:rPr lang="en-I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analyze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how sales evolve over time to detect growth patterns and seasonality. This helps identify whether performance is stable, growing, or volatile.</a:t>
            </a:r>
          </a:p>
          <a:p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Second, Top Performing Products highlights which specific products contribute the most revenue. This allows the business to prioritize high-performing SKUs and optimize inventory focus.</a:t>
            </a:r>
          </a:p>
          <a:p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Third, Geographic Revenue Distribution evaluates how revenue is distributed across countries. This helps us understand revenue concentration and identify potential markets for expansion or diversification.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Together, these insights provide a complete picture of overall sales performance.”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A55FE4-8B7F-4397-922D-408987C3A38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44541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slide drills deeper into product-level analysis.</a:t>
            </a:r>
          </a:p>
          <a:p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First, Category Contribution shows which product categories drive the majority of revenue and volume. This helps identify growth drivers within the portfolio.</a:t>
            </a:r>
          </a:p>
          <a:p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Second, the Top Products by Sales Volume highlights demand strength across individual products. This indicates customer preference and sales intensity.</a:t>
            </a:r>
          </a:p>
          <a:p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Third, we evaluate product-level performance relative to revenue contribution, helping identify high-margin and high-demand combinations.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section bridges overall sales performance with detailed product insights.”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A55FE4-8B7F-4397-922D-408987C3A38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49653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slide </a:t>
            </a:r>
            <a:r>
              <a:rPr lang="en-I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analyzes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internal workforce structure.</a:t>
            </a:r>
          </a:p>
          <a:p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First, Employee Count by Job Title gives visibility into workforce allocation across roles.</a:t>
            </a:r>
          </a:p>
          <a:p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Second, the Employee Tenure Distribution highlights experience levels and potential workforce stability or turnover risks.</a:t>
            </a:r>
          </a:p>
          <a:p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Third, the Reporting Structure Matrix visualizes organizational hierarchy, helping assess management layers and reporting distribution.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insights support operational alignment and organizational efficiency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A55FE4-8B7F-4397-922D-408987C3A38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55531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section evaluates pricing strategy and demand </a:t>
            </a:r>
            <a:r>
              <a:rPr lang="en-I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behavior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First, the Price vs Units Sold relationship helps identify whether higher pricing impacts demand negatively or whether premium pricing is sustained by strong volume.</a:t>
            </a:r>
          </a:p>
          <a:p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Second, the Monthly Product Demand Trend highlights seasonality and fluctuations in purchasing </a:t>
            </a:r>
            <a:r>
              <a:rPr lang="en-I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behavior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Third, the Distribution of Order Values provides insight into transaction size patterns, helping understand whether revenue is driven by high-frequency small orders or large transactions.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slide connects pricing strategy directly to customer purchasing </a:t>
            </a:r>
            <a:r>
              <a:rPr lang="en-I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behavior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A55FE4-8B7F-4397-922D-408987C3A387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40647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final section focuses on supplier performance and procurement strategy.</a:t>
            </a:r>
          </a:p>
          <a:p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First, Average Supplier Pricing by Region compares cost structures across different supplier geographies.</a:t>
            </a:r>
          </a:p>
          <a:p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Second, Supplier Concentration by Category evaluates dependency risk — identifying whether certain categories rely heavily on limited suppliers.</a:t>
            </a:r>
          </a:p>
          <a:p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Third, Regional Supplier Distribution helps assess sourcing diversification and supply stability.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insights are critical for cost optimization and risk management.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A55FE4-8B7F-4397-922D-408987C3A387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37761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“In conclusion, using a MECE framework allowed us to systematically evaluate Northwind Traders across sales performance, customer </a:t>
            </a:r>
            <a:r>
              <a:rPr lang="en-I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behavior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product contribution, workforce structure, pricing strategy, and supplier dynamics.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Together, these insights provide a comprehensive and structured view of business performance, enabling data-driven strategic decisions.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Thank you.”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A55FE4-8B7F-4397-922D-408987C3A387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4116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10B32-CBFE-89CB-DAF4-482E5CD7D2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6485F7-545C-EDDF-3CCC-9ECB12464C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F5202F-96E4-DD7E-D91B-AC3FD0B2D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918B6-63B9-41F9-9F3E-B9A815C94814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055EAD-1F2D-A893-5B8E-5967B28CD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46173-DB21-6E73-121D-5F6583333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A26CC-2E60-41DB-AFD5-B48E220A5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3121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5A6E0-E5C7-D8E9-7B99-C71DFBF11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04351-BD2D-0733-4AC0-3CAD4F7D75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D5106-A420-AB4E-BD03-380D8CC7F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918B6-63B9-41F9-9F3E-B9A815C94814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AA83A5-EE60-A22D-3ACB-71FB70E58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9A609-8846-3D1C-5CDF-40BDC21B5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A26CC-2E60-41DB-AFD5-B48E220A5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7920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007E1-110A-546F-6A6A-8DEA9ED77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7D9FC5-F703-D98C-FC78-782615820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2E076C-BDA4-24A6-2C14-BFD019E0B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918B6-63B9-41F9-9F3E-B9A815C94814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8C549-9DE8-32C1-DF47-B52924E11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CDA3B-AF41-B480-90CA-6B6792DEE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A26CC-2E60-41DB-AFD5-B48E220A5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9733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C593E-FD85-9945-2EC2-E1D28705F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C4E1C-6427-E517-6918-D2CF58977E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67B247-95E7-F154-5315-D9FF3ED883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718E10-0E9F-2EF1-72F5-C3B1FF23A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918B6-63B9-41F9-9F3E-B9A815C94814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69F64C-BE7C-1958-B407-D20F14C8B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69CCF1-7278-2E17-B243-32CCAA6B9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A26CC-2E60-41DB-AFD5-B48E220A5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1205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F94C8-5236-342E-805A-3F49FEC90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87F426-8C62-606F-FB8B-0209DEB11B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6B8D61-E5A0-86E3-189D-B5820D7B71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77113-15EF-5425-7194-73174947E2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6AEC3F-88A0-5D2F-5D49-618A3CC5D9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768404-806C-E622-7C2B-52E892420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918B6-63B9-41F9-9F3E-B9A815C94814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FF5B94-7A49-89D3-8EBC-81C6F7215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815D7E-34E3-E9F5-EF6B-069C890AC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A26CC-2E60-41DB-AFD5-B48E220A5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1429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DFE4D-FC49-1ADB-E53B-AC1908040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D90DF3-04A9-850D-0589-BA39772AA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918B6-63B9-41F9-9F3E-B9A815C94814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512C2B-A424-F96B-41DC-AC70CFD9D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32B840-823D-876F-6548-7E19F90AB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A26CC-2E60-41DB-AFD5-B48E220A5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4110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DBE522-19A1-08DF-9EC5-DC03F74F2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918B6-63B9-41F9-9F3E-B9A815C94814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A76919-E6E6-B457-6FD2-EAC8A8AF6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199AD5-7C92-AD7F-0630-9DB460FE2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A26CC-2E60-41DB-AFD5-B48E220A5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8230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6958E-482F-40F0-6669-C9109E0FF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F106F-599B-503A-0FCE-3C1295412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87427B-9A47-C28F-ED5E-C25D070C0E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2F3CD5-0BE5-D586-AD0A-5164B883A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918B6-63B9-41F9-9F3E-B9A815C94814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69EA30-80C8-9661-A1EA-179DEBE08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BAAF77-249E-D664-E076-AF29BA258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A26CC-2E60-41DB-AFD5-B48E220A5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7533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7C14D-07CC-CA39-9250-301EF2CF2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88F774-2B4E-F20B-15D4-D4A6436E44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5D28C1-591A-15C0-D3B7-064F1D63BD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73E3D5-CEF0-29A0-DC16-ABD6905A5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918B6-63B9-41F9-9F3E-B9A815C94814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7EF70D-F06D-5A3E-2268-B79E6B8F8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C02B1F-47B9-5DF6-7AE4-66B94676F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A26CC-2E60-41DB-AFD5-B48E220A5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9317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897E8-B4E7-92E7-9B51-28141803C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448D9C-A162-F26F-2068-50C6B305D8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C8AC9-DD24-34B5-427F-D7B4A6CFD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918B6-63B9-41F9-9F3E-B9A815C94814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B88998-D115-1B06-0F9B-A59BCBA7D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01D8D8-0A83-B49A-D7E8-3FB413E9F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A26CC-2E60-41DB-AFD5-B48E220A5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0653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7D1881-6B3D-0CFC-4D17-9FF6AEF137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1E3C64-99A8-7685-C35A-B070EC8D92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19F19F-2BBA-E2EC-4AAC-7000F11ED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918B6-63B9-41F9-9F3E-B9A815C94814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6F2A07-8228-5787-E587-F96ED6027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B56B80-D366-AAD7-F7A8-28D0DEC5A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A26CC-2E60-41DB-AFD5-B48E220A5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6983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4A441A-B4DD-5D6B-E2EF-0A9C6F5C4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F8ECF7-CE61-4253-2A82-8F20A3631C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1D5CAA-17FE-4584-4F6D-F8842FDED7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918B6-63B9-41F9-9F3E-B9A815C94814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D63465-4C8C-DAA6-2DF1-A13EE260FA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29DA2-BB75-FC2D-CBAB-75D9BBB3BE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FA26CC-2E60-41DB-AFD5-B48E220A5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841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chart" Target="../charts/char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874675F-C3BA-818C-FE40-76AFA97604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561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466F8-7A36-0ADF-886E-CD8797FB0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8436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Sales Performance Analysis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D8AC797-9948-1FAD-30B4-FC412C02C0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1866930"/>
              </p:ext>
            </p:extLst>
          </p:nvPr>
        </p:nvGraphicFramePr>
        <p:xfrm>
          <a:off x="838200" y="1385888"/>
          <a:ext cx="4658032" cy="22572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B71E0E41-A4C7-81C8-93C9-5765895C77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12873453"/>
              </p:ext>
            </p:extLst>
          </p:nvPr>
        </p:nvGraphicFramePr>
        <p:xfrm>
          <a:off x="6390967" y="1385888"/>
          <a:ext cx="4071578" cy="24413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7A3E8571-9F79-AA2E-E595-7BC0546529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5153" y="3827197"/>
            <a:ext cx="4105848" cy="247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855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4305C-FED9-C834-0589-1A04FACA1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8D5BA-E6DA-3663-2519-D6C3CB47A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8436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Product &amp; Revenue Performance 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67E5892D-7D9B-2B30-25C0-DC60FE600A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1037084"/>
              </p:ext>
            </p:extLst>
          </p:nvPr>
        </p:nvGraphicFramePr>
        <p:xfrm>
          <a:off x="838200" y="1218321"/>
          <a:ext cx="4572000" cy="27105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78E727EA-1297-A5FE-7143-022162438B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823" y="3785935"/>
            <a:ext cx="4688736" cy="271054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184493C-039F-CA87-EAC9-E2D2404A3A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9777" y="963562"/>
            <a:ext cx="4994023" cy="2518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133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1281A-34E8-C09E-A6FB-CC9AAA708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14D20-3471-6BAD-B869-99C792BE2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8436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Workforce &amp; Organization Insights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2A809D-7DA3-90F4-357B-EC83EA945C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49" y="1112219"/>
            <a:ext cx="5258534" cy="29817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969EF8-6F6F-A8AA-8F34-B1BA192914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107455"/>
            <a:ext cx="4858428" cy="29912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3E5584A-6779-A027-97B6-DC32C96CFB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1280" y="4319936"/>
            <a:ext cx="3453420" cy="2172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184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B2E3C-F225-679B-05D8-8602B98B8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913F4-C700-3F73-5F60-DA1ABDEC6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8436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Pricing, Demand &amp; Sales Patterns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29151E12-D68F-5791-A49B-E74A3302EDD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36966279"/>
              </p:ext>
            </p:extLst>
          </p:nvPr>
        </p:nvGraphicFramePr>
        <p:xfrm>
          <a:off x="404229" y="1057029"/>
          <a:ext cx="4579620" cy="27774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6F8FFB40-6801-0DE5-5DD2-E222EFDE354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81951760"/>
              </p:ext>
            </p:extLst>
          </p:nvPr>
        </p:nvGraphicFramePr>
        <p:xfrm>
          <a:off x="4983849" y="1257054"/>
          <a:ext cx="6327319" cy="23774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97CC72A2-D4D4-9337-4AAB-4C0C80FDD2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5783" y="3834518"/>
            <a:ext cx="8840434" cy="273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418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CD43C-7F18-79C3-3AE7-2BDB3C4DB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A6643-0B6E-4673-E43B-465AE1C45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8436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Supplier &amp; Regional Insights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B3242BB4-E009-660A-644B-4024A8C9E5C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10634162"/>
              </p:ext>
            </p:extLst>
          </p:nvPr>
        </p:nvGraphicFramePr>
        <p:xfrm>
          <a:off x="6781800" y="963562"/>
          <a:ext cx="4572000" cy="2771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5B19052C-D46C-9668-DFEF-E9480EA9F38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7632029"/>
              </p:ext>
            </p:extLst>
          </p:nvPr>
        </p:nvGraphicFramePr>
        <p:xfrm>
          <a:off x="3806190" y="3735337"/>
          <a:ext cx="4579620" cy="2771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65C01859-C5F7-E054-3750-82852726C0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59909664"/>
              </p:ext>
            </p:extLst>
          </p:nvPr>
        </p:nvGraphicFramePr>
        <p:xfrm>
          <a:off x="838200" y="963562"/>
          <a:ext cx="4575810" cy="27179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179624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741E2B5-C288-4359-B3CF-F20C9CD63638}"/>
              </a:ext>
            </a:extLst>
          </p:cNvPr>
          <p:cNvSpPr/>
          <p:nvPr/>
        </p:nvSpPr>
        <p:spPr>
          <a:xfrm>
            <a:off x="3137402" y="2505670"/>
            <a:ext cx="591719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1" algn="ctr"/>
            <a:r>
              <a:rPr lang="en-US" sz="96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404688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636</Words>
  <Application>Microsoft Office PowerPoint</Application>
  <PresentationFormat>Widescreen</PresentationFormat>
  <Paragraphs>74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Sales Performance Analysis</vt:lpstr>
      <vt:lpstr>Product &amp; Revenue Performance </vt:lpstr>
      <vt:lpstr>Workforce &amp; Organization Insights</vt:lpstr>
      <vt:lpstr>Pricing, Demand &amp; Sales Patterns</vt:lpstr>
      <vt:lpstr>Supplier &amp; Regional Insights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Shreyas Ganigi</dc:creator>
  <cp:lastModifiedBy>Shreyas Ganigi</cp:lastModifiedBy>
  <cp:revision>8</cp:revision>
  <dcterms:created xsi:type="dcterms:W3CDTF">2026-02-14T08:18:52Z</dcterms:created>
  <dcterms:modified xsi:type="dcterms:W3CDTF">2026-02-14T11:45:48Z</dcterms:modified>
</cp:coreProperties>
</file>